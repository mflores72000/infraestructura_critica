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6DEE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731520"/>
            <a:ext cx="108356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731520"/>
            <a:ext cx="146304" cy="502920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5097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83B5B"/>
                </a:solidFill>
                <a:latin typeface="Aptos"/>
              </a:rPr>
              <a:t>Detección de anomalías en sistemas de distribución de agua mediante análisis funcional multivariante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697480"/>
            <a:ext cx="8961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F6B9A"/>
                </a:solidFill>
                <a:latin typeface="Aptos"/>
              </a:rPr>
              <a:t>Aplicación al conjunto de datos BATADAL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2461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F7180"/>
                </a:solidFill>
                <a:latin typeface="Aptos"/>
              </a:rPr>
              <a:t>Propuesta de tema · base de datos · pregunta de investigación · objetivos · proceso metodológico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4224528"/>
            <a:ext cx="1874519" cy="347472"/>
          </a:xfrm>
          <a:prstGeom prst="round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97864" y="4288536"/>
            <a:ext cx="17647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Individuo = día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224528"/>
            <a:ext cx="2103120" cy="347472"/>
          </a:xfrm>
          <a:prstGeom prst="roundRect">
            <a:avLst/>
          </a:prstGeom>
          <a:solidFill>
            <a:srgbClr val="2F6B9A"/>
          </a:solidFill>
          <a:ln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55264" y="4288536"/>
            <a:ext cx="19933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Dominio = 24 horas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224528"/>
            <a:ext cx="2514600" cy="347472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41264" y="4288536"/>
            <a:ext cx="24048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43 variables operacionales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224528"/>
            <a:ext cx="2240280" cy="347472"/>
          </a:xfrm>
          <a:prstGeom prst="round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4288536"/>
            <a:ext cx="21305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AFD + multivariante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98348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7180"/>
                </a:solidFill>
                <a:latin typeface="Aptos"/>
              </a:rPr>
              <a:t>Entrega 1 · enfoque corregido según la orientación del profesor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6DEE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1. Presentación de la base de datos BATADAL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7180"/>
                </a:solidFill>
                <a:latin typeface="Aptos"/>
              </a:rPr>
              <a:t>Estructura utilizada para el enfoque funcional multivariante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63039"/>
            <a:ext cx="31546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Estructura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56231"/>
            <a:ext cx="3154679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45 columnas en total:</a:t>
            </a:r>
            <a:br/>
            <a:r>
              <a:t>• DATETIME</a:t>
            </a:r>
            <a:br/>
            <a:r>
              <a:t>• 43 variables operacionales</a:t>
            </a:r>
            <a:br/>
            <a:r>
              <a:t>• ATT_FLAG como etiqueta de referencia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874519"/>
          </a:xfrm>
          <a:prstGeom prst="rect">
            <a:avLst/>
          </a:prstGeom>
          <a:solidFill>
            <a:srgbClr val="2F6B9A"/>
          </a:solidFill>
          <a:ln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63039"/>
            <a:ext cx="31546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Variables operacionales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56231"/>
            <a:ext cx="3154679" cy="1280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243443"/>
                </a:solidFill>
                <a:latin typeface="Aptos"/>
              </a:rPr>
              <a:t>31 variables </a:t>
            </a:r>
            <a:r>
              <a:rPr sz="1120" b="0" dirty="0" err="1">
                <a:solidFill>
                  <a:srgbClr val="243443"/>
                </a:solidFill>
                <a:latin typeface="Aptos"/>
              </a:rPr>
              <a:t>continuas</a:t>
            </a:r>
            <a:r>
              <a:rPr sz="1120" b="0" dirty="0">
                <a:solidFill>
                  <a:srgbClr val="243443"/>
                </a:solidFill>
                <a:latin typeface="Aptos"/>
              </a:rPr>
              <a:t>:</a:t>
            </a:r>
            <a:br>
              <a:rPr dirty="0"/>
            </a:br>
            <a:r>
              <a:rPr dirty="0"/>
              <a:t>• 7 </a:t>
            </a:r>
            <a:r>
              <a:rPr dirty="0" err="1"/>
              <a:t>niveles</a:t>
            </a:r>
            <a:br>
              <a:rPr dirty="0"/>
            </a:br>
            <a:r>
              <a:rPr dirty="0"/>
              <a:t>• 12 </a:t>
            </a:r>
            <a:r>
              <a:rPr dirty="0" err="1"/>
              <a:t>caudales</a:t>
            </a:r>
            <a:br>
              <a:rPr dirty="0"/>
            </a:br>
            <a:r>
              <a:rPr dirty="0"/>
              <a:t>• 12 </a:t>
            </a:r>
            <a:r>
              <a:rPr dirty="0" err="1"/>
              <a:t>presiones</a:t>
            </a:r>
            <a:br>
              <a:rPr dirty="0"/>
            </a:br>
            <a:r>
              <a:rPr dirty="0"/>
              <a:t>12 variables </a:t>
            </a:r>
            <a:r>
              <a:rPr dirty="0" err="1"/>
              <a:t>binarias</a:t>
            </a:r>
            <a:r>
              <a:rPr dirty="0"/>
              <a:t> de </a:t>
            </a:r>
            <a:r>
              <a:rPr dirty="0" err="1"/>
              <a:t>estado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874519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39"/>
            <a:ext cx="31546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Naturaleza temporal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56231"/>
            <a:ext cx="3154679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Observaciones horarias.</a:t>
            </a:r>
            <a:br/>
            <a:r>
              <a:t>La unidad funcional propuesta es el día, con 24 observaciones por individuo.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10469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84A4A"/>
                </a:solidFill>
                <a:latin typeface="Aptos"/>
              </a:rPr>
              <a:t>ATT_FLAG no se utiliza como predictor; se reserva para evaluar posteriormente la detección de anomalías.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572000"/>
            <a:ext cx="9692640" cy="960120"/>
          </a:xfrm>
          <a:prstGeom prst="roundRect">
            <a:avLst/>
          </a:prstGeom>
          <a:solidFill>
            <a:srgbClr val="EEF5F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4818888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83B5B"/>
                </a:solidFill>
                <a:latin typeface="Aptos"/>
              </a:rPr>
              <a:t>Idea central: transformar las señales horarias en objetos funcionales y analizar conjuntamente cómo se comportan durante cada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6DEE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2. Conjuntos de datos y papel metodológico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7180"/>
                </a:solidFill>
                <a:latin typeface="Aptos"/>
              </a:rPr>
              <a:t>Construcción del modelo con referencia normal y evaluación posterior con eventos de ataque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0749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2240280"/>
          </a:xfrm>
          <a:prstGeom prst="rect">
            <a:avLst/>
          </a:prstGeom>
          <a:solidFill>
            <a:srgbClr val="4D8B63"/>
          </a:solidFill>
          <a:ln>
            <a:solidFill>
              <a:srgbClr val="4D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6303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BATADAL dataset03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56231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• 8761 registros horarios</a:t>
            </a:r>
            <a:br/>
            <a:r>
              <a:t>• 365 días completos de 24 horas</a:t>
            </a:r>
            <a:br/>
            <a:r>
              <a:t>• ATT_FLAG = 0 en el periodo de referencia</a:t>
            </a:r>
            <a:br/>
            <a:r>
              <a:t>• Se usa para construir las representaciones funcionales y el comportamiento normal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0749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73152" cy="2240280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3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BATADAL dataset04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1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• 4177 registros horarios</a:t>
            </a:r>
            <a:br/>
            <a:r>
              <a:t>• 174 días completos de 24 horas</a:t>
            </a:r>
            <a:br/>
            <a:r>
              <a:t>• Contiene eventos de ataque documentados</a:t>
            </a:r>
            <a:br/>
            <a:r>
              <a:t>• Se usa posteriormente para estudiar el desempeño de la detección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617720"/>
            <a:ext cx="2743200" cy="658368"/>
          </a:xfrm>
          <a:prstGeom prst="roundRect">
            <a:avLst/>
          </a:prstGeom>
          <a:solidFill>
            <a:srgbClr val="4D8B63"/>
          </a:solidFill>
          <a:ln>
            <a:solidFill>
              <a:srgbClr val="4D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66344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Construcción del modelo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617720"/>
            <a:ext cx="2423160" cy="658368"/>
          </a:xfrm>
          <a:prstGeom prst="round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59" y="466344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Modelo funcional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4617720"/>
            <a:ext cx="2697480" cy="658368"/>
          </a:xfrm>
          <a:prstGeom prst="round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466344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Evaluación posterior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6200" y="4946904"/>
            <a:ext cx="914400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0920" y="4946904"/>
            <a:ext cx="914400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6DEE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3. Particionamiento: día = individuo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7180"/>
                </a:solidFill>
                <a:latin typeface="Aptos"/>
              </a:rPr>
              <a:t>Cada variable se reorganiza en una matriz 24 × n_días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83B5B"/>
                </a:solidFill>
                <a:latin typeface="Aptos"/>
              </a:rPr>
              <a:t>Para cada variable o conexión j: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F6B9A"/>
                </a:solidFill>
                <a:latin typeface="Aptos"/>
              </a:rPr>
              <a:t>Y⁽ʲ⁾ ∈ ℝ²⁴ˣⁿ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43443"/>
                </a:solidFill>
                <a:latin typeface="Aptos"/>
              </a:rPr>
              <a:t>filas = horas 0,…,23</a:t>
            </a:r>
            <a:br/>
            <a:r>
              <a:t>columnas = días / individuos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1005840" cy="475488"/>
          </a:xfrm>
          <a:prstGeom prst="rect">
            <a:avLst/>
          </a:prstGeom>
          <a:solidFill>
            <a:srgbClr val="183B5B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536192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Hora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417320"/>
            <a:ext cx="1005840" cy="475488"/>
          </a:xfrm>
          <a:prstGeom prst="rect">
            <a:avLst/>
          </a:prstGeom>
          <a:solidFill>
            <a:srgbClr val="183B5B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0" y="1536192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Día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1005840" cy="475488"/>
          </a:xfrm>
          <a:prstGeom prst="rect">
            <a:avLst/>
          </a:prstGeom>
          <a:solidFill>
            <a:srgbClr val="183B5B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Día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417320"/>
            <a:ext cx="1005840" cy="475488"/>
          </a:xfrm>
          <a:prstGeom prst="rect">
            <a:avLst/>
          </a:prstGeom>
          <a:solidFill>
            <a:srgbClr val="183B5B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1536192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Día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417320"/>
            <a:ext cx="1005840" cy="475488"/>
          </a:xfrm>
          <a:prstGeom prst="rect">
            <a:avLst/>
          </a:prstGeom>
          <a:solidFill>
            <a:srgbClr val="183B5B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536192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417320"/>
            <a:ext cx="1005840" cy="475488"/>
          </a:xfrm>
          <a:prstGeom prst="rect">
            <a:avLst/>
          </a:prstGeom>
          <a:solidFill>
            <a:srgbClr val="183B5B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1536192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Día 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1892808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2011680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1892808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94960" y="2011680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x₀₁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92808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011680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x₀₂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892808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2011680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x₀₃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1892808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2011680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1892808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11680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x₀ₙ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2368296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89120" y="2487168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2368296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94960" y="2487168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x₁₁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368296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2487168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x₁₂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2368296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40" y="2487168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x₁₃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2368296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2487168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2368296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18320" y="2487168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x₁ₙ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2843784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89120" y="2962656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⋮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60" y="2843784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94960" y="2962656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843784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2962656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2843784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06640" y="2962656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2843784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0" y="2962656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2843784"/>
            <a:ext cx="1005840" cy="475488"/>
          </a:xfrm>
          <a:prstGeom prst="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2962656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⋮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3319272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89120" y="3438144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23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3319272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394960" y="3438144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x₂₃,₁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3319272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0" y="3438144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x₂₃,₂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06640" y="3319272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06640" y="3438144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x₂₃,₃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3319272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12480" y="3438144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0" y="3319272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418320" y="3438144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43443"/>
                </a:solidFill>
                <a:latin typeface="Aptos"/>
              </a:rPr>
              <a:t>x₂₃,ₙ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80160" y="4709160"/>
            <a:ext cx="9646920" cy="822960"/>
          </a:xfrm>
          <a:prstGeom prst="roundRect">
            <a:avLst/>
          </a:prstGeom>
          <a:solidFill>
            <a:srgbClr val="EEF5F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554480" y="4956048"/>
            <a:ext cx="9098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83B5B"/>
                </a:solidFill>
                <a:latin typeface="Aptos"/>
              </a:rPr>
              <a:t>Con 43 variables operacionales se obtienen 43 matrices alineadas por el mismo conjunto de días.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6DEE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4. De cada matriz a su espacio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7180"/>
                </a:solidFill>
                <a:latin typeface="Aptos"/>
              </a:rPr>
              <a:t>Cada columna/día se transforma en una función; no todas las variables usan la misma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68880" cy="804672"/>
          </a:xfrm>
          <a:prstGeom prst="roundRect">
            <a:avLst/>
          </a:prstGeom>
          <a:solidFill>
            <a:srgbClr val="2F6B9A"/>
          </a:solidFill>
          <a:ln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377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Vector diario en ℝ²⁴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2788920" cy="804672"/>
          </a:xfrm>
          <a:prstGeom prst="round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26974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Representación funcional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337560" cy="804672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463040"/>
            <a:ext cx="32461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Xᵢ⁽ʲ⁾(t) ∈ 𝓗ⱼ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1819656"/>
            <a:ext cx="914400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1819656"/>
            <a:ext cx="914400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80" y="2697480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500" b="1">
                <a:solidFill>
                  <a:srgbClr val="183B5B"/>
                </a:solidFill>
                <a:latin typeface="Aptos"/>
              </a:rPr>
              <a:t>Xᵢ⁽ʲ⁾(t) = Σₖ cᵢₖ⁽ʲ⁾ Bₖ⁽ʲ⁾(t)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2900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2F6B9A"/>
                </a:solidFill>
                <a:latin typeface="Aptos"/>
              </a:rPr>
              <a:t>La base puede ser diferente para cada variable: 𝓑₁, 𝓑₂, …, 𝓑₄₃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251960"/>
            <a:ext cx="73152" cy="1143000"/>
          </a:xfrm>
          <a:prstGeom prst="rect">
            <a:avLst/>
          </a:prstGeom>
          <a:solidFill>
            <a:srgbClr val="2F6B9A"/>
          </a:solidFill>
          <a:ln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B-spline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8231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Señales relativamente suaves.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42519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26080" y="4251960"/>
            <a:ext cx="73152" cy="1143000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08960" y="43891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Fourier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78231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Señales con patrón periódico.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42519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20640" y="4251960"/>
            <a:ext cx="73152" cy="114300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0" y="43891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Haar / wavelet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78231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Cambios bruscos y estructura local.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25196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0" y="4251960"/>
            <a:ext cx="73152" cy="1143000"/>
          </a:xfrm>
          <a:prstGeom prst="rect">
            <a:avLst/>
          </a:prstGeom>
          <a:solidFill>
            <a:srgbClr val="4D8B63"/>
          </a:solidFill>
          <a:ln>
            <a:solidFill>
              <a:srgbClr val="4D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79" y="438912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Escalonada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782312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Estados binarios 0/1.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425196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81160" y="4251960"/>
            <a:ext cx="73152" cy="1143000"/>
          </a:xfrm>
          <a:prstGeom prst="rect">
            <a:avLst/>
          </a:prstGeom>
          <a:solidFill>
            <a:srgbClr val="5F7180"/>
          </a:solidFill>
          <a:ln>
            <a:solidFill>
              <a:srgbClr val="5F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64040" y="438912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Constante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782312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Sin variación en referencia.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6DEE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5. Objeto funcional multivariante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7180"/>
                </a:solidFill>
                <a:latin typeface="Aptos"/>
              </a:rPr>
              <a:t>Un día queda representado por un vector de 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83B5B"/>
                </a:solidFill>
                <a:latin typeface="Aptos"/>
              </a:rPr>
              <a:t>Para el día 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14300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>
                <a:solidFill>
                  <a:srgbClr val="2F6B9A"/>
                </a:solidFill>
                <a:latin typeface="Aptos"/>
              </a:rPr>
              <a:t>𝐗ᵢ = ( Xᵢ⁽¹⁾, Xᵢ⁽²⁾, …, Xᵢ⁽⁴³⁾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74519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183B5B"/>
                </a:solidFill>
                <a:latin typeface="Aptos"/>
              </a:rPr>
              <a:t>𝐗ᵢ ∈ 𝓗₁ ⊕ 𝓗₂ ⊕ ··· ⊕ 𝓗₄₃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834640"/>
            <a:ext cx="73152" cy="1828800"/>
          </a:xfrm>
          <a:prstGeom prst="rect">
            <a:avLst/>
          </a:prstGeom>
          <a:solidFill>
            <a:srgbClr val="2F6B9A"/>
          </a:solidFill>
          <a:ln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Componente funcional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64992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Cada señal conserva su naturaleza temporal y su propia base funcional.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83464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2834640"/>
            <a:ext cx="73152" cy="182880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9718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Análisis conjunto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364992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Se estudian simultáneamente niveles, caudales, presiones y estados.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83464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2834640"/>
            <a:ext cx="73152" cy="1828800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9718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Escala comparable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64992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Las componentes se centran y ponderan para evitar dominio por unidades.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257800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83B5B"/>
                </a:solidFill>
                <a:latin typeface="Aptos"/>
              </a:rPr>
              <a:t>Punto de entrada al análisis funcional multivariante y a la reducción de dimensionalidad (por ejemplo, MFPCA).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6DEE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6. Proceso total propuesto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7180"/>
                </a:solidFill>
                <a:latin typeface="Aptos"/>
              </a:rPr>
              <a:t>Del dato horario a la detección de anomalías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234440" cy="1097280"/>
          </a:xfrm>
          <a:prstGeom prst="round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4300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BATADAL</a:t>
            </a:r>
            <a:br/>
            <a:r>
              <a:t>Base horaria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64208" y="2377440"/>
            <a:ext cx="173735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74519" y="1828800"/>
            <a:ext cx="1234440" cy="1097280"/>
          </a:xfrm>
          <a:prstGeom prst="roundRect">
            <a:avLst/>
          </a:prstGeom>
          <a:solidFill>
            <a:srgbClr val="2F6B9A"/>
          </a:solidFill>
          <a:ln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39" y="1874519"/>
            <a:ext cx="114300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Partición</a:t>
            </a:r>
            <a:br/>
            <a:r>
              <a:t>día = individuo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27248" y="2377440"/>
            <a:ext cx="173736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7560" y="1828800"/>
            <a:ext cx="1234440" cy="10972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79" y="1874519"/>
            <a:ext cx="114300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43 matrices</a:t>
            </a:r>
            <a:br/>
            <a:r>
              <a:t>24 × n días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90288" y="2377440"/>
            <a:ext cx="173736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00600" y="1828800"/>
            <a:ext cx="1234440" cy="1097280"/>
          </a:xfrm>
          <a:prstGeom prst="round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1874519"/>
            <a:ext cx="114300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Varias bases</a:t>
            </a:r>
            <a:br/>
            <a:r>
              <a:t>por variable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3327" y="2377440"/>
            <a:ext cx="173737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1828800"/>
            <a:ext cx="1234440" cy="1097280"/>
          </a:xfrm>
          <a:prstGeom prst="roundRect">
            <a:avLst/>
          </a:prstGeom>
          <a:solidFill>
            <a:srgbClr val="4D8B63"/>
          </a:solidFill>
          <a:ln>
            <a:solidFill>
              <a:srgbClr val="4D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1874519"/>
            <a:ext cx="114300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Objeto AFD</a:t>
            </a:r>
            <a:br/>
            <a:r>
              <a:t>multivariante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16367" y="2377440"/>
            <a:ext cx="173737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26679" y="1828800"/>
            <a:ext cx="1234440" cy="1097280"/>
          </a:xfrm>
          <a:prstGeom prst="round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1874519"/>
            <a:ext cx="114300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MFPCA</a:t>
            </a:r>
            <a:br/>
            <a:r>
              <a:t>reducción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79407" y="2377440"/>
            <a:ext cx="173737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9720" y="1828800"/>
            <a:ext cx="1234440" cy="1097280"/>
          </a:xfrm>
          <a:prstGeom prst="roundRect">
            <a:avLst/>
          </a:prstGeom>
          <a:solidFill>
            <a:srgbClr val="2F6B9A"/>
          </a:solidFill>
          <a:ln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40" y="1874519"/>
            <a:ext cx="114300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Modelo normal</a:t>
            </a:r>
            <a:br/>
            <a:r>
              <a:t>scores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442448" y="2377440"/>
            <a:ext cx="82296" cy="0"/>
          </a:xfrm>
          <a:prstGeom prst="line">
            <a:avLst/>
          </a:prstGeom>
          <a:ln w="19050">
            <a:solidFill>
              <a:srgbClr val="5F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561320" y="1828800"/>
            <a:ext cx="1143000" cy="1097280"/>
          </a:xfrm>
          <a:prstGeom prst="roundRect">
            <a:avLst/>
          </a:prstGeom>
          <a:solidFill>
            <a:srgbClr val="B84A4A"/>
          </a:solidFill>
          <a:ln>
            <a:solidFill>
              <a:srgbClr val="B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07040" y="1874519"/>
            <a:ext cx="105156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Anomalía</a:t>
            </a:r>
            <a:br/>
            <a:r>
              <a:t>detección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3375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F6B9A"/>
                </a:solidFill>
                <a:latin typeface="Aptos"/>
              </a:rPr>
              <a:t>BLOQUE 1 · Construcción funcional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3756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4D8B63"/>
                </a:solidFill>
                <a:latin typeface="Aptos"/>
              </a:rPr>
              <a:t>BLOQUE 2 · Análisis funcional multivariante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337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B84A4A"/>
                </a:solidFill>
                <a:latin typeface="Aptos"/>
              </a:rPr>
              <a:t>BLOQUE 3 · Detección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103784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243443"/>
                </a:solidFill>
                <a:latin typeface="Aptos"/>
              </a:rPr>
              <a:t>Flujo: datos → particionamiento → bases funcionales → integración multivariante → reducción de dimensión → modelo normal → score/umbral → anomalía.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6DEE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7. Tema y pregunta de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7180"/>
                </a:solidFill>
                <a:latin typeface="Aptos"/>
              </a:rPr>
              <a:t>Formulación alineada con el nuevo enfoque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61320" cy="1325880"/>
          </a:xfrm>
          <a:prstGeom prst="roundRect">
            <a:avLst/>
          </a:prstGeom>
          <a:solidFill>
            <a:srgbClr val="EAF0F6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8132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F6B9A"/>
                </a:solidFill>
                <a:latin typeface="Aptos"/>
              </a:rPr>
              <a:t>Tema propuesto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3268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183B5B"/>
                </a:solidFill>
                <a:latin typeface="Aptos"/>
              </a:rPr>
              <a:t>Detección de anomalías en sistemas de distribución de agua mediante análisis funcional multivariante: aplicación a BATADAL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10561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Aptos"/>
              </a:rPr>
              <a:t>Pregunta de investigación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43443"/>
                </a:solidFill>
                <a:latin typeface="Aptos"/>
              </a:rPr>
              <a:t>¿Cómo puede el particionamiento diario de las señales operacionales de BATADAL y su representación mediante Análisis Funcional de Datos y técnicas multivariantes contribuir a la detección de anomalías en el sistema?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5166360"/>
            <a:ext cx="2286000" cy="347472"/>
          </a:xfrm>
          <a:prstGeom prst="round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9304" y="5230368"/>
            <a:ext cx="21762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QUÉ: detectar anomalías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5166360"/>
            <a:ext cx="3200400" cy="347472"/>
          </a:xfrm>
          <a:prstGeom prst="roundRect">
            <a:avLst/>
          </a:prstGeom>
          <a:solidFill>
            <a:srgbClr val="2F6B9A"/>
          </a:solidFill>
          <a:ln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9624" y="5230368"/>
            <a:ext cx="30906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CÓMO: partición + AFD + multivariante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5166360"/>
            <a:ext cx="3611880" cy="347472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24344" y="5230368"/>
            <a:ext cx="3502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PARA QUÉ: distinguir patrones anómalos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6DEE8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8. Objetivos de la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7180"/>
                </a:solidFill>
                <a:latin typeface="Aptos"/>
              </a:rPr>
              <a:t>Tres objetivos con qué, cómo y para qué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835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Desarrollar un modelo para la detección de anomalías en las señales operacionales de BATADAL mediante el particionamiento diario, la representación con Análisis Funcional de Datos y el análisis multivariante, con el fin de caracterizar el comportamiento conjunto del sistema e identificar desviaciones respecto al patrón esperado.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8892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788920"/>
            <a:ext cx="73152" cy="2148840"/>
          </a:xfrm>
          <a:prstGeom prst="rect">
            <a:avLst/>
          </a:prstGeom>
          <a:solidFill>
            <a:srgbClr val="2F6B9A"/>
          </a:solidFill>
          <a:ln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79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Objetivo específico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19272"/>
            <a:ext cx="48920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Particionar y reorganizar las señales temporales de BATADAL en unidades diarias, considerando cada día como un individuo y las 24 horas como dominio funcional, para construir matrices comparables por variable y preparar su transformación a espacios funcionales.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78892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2788920"/>
            <a:ext cx="73152" cy="214884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79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3B5B"/>
                </a:solidFill>
                <a:latin typeface="Aptos"/>
              </a:rPr>
              <a:t>Objetivo específico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19272"/>
            <a:ext cx="48920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243443"/>
                </a:solidFill>
                <a:latin typeface="Aptos"/>
              </a:rPr>
              <a:t>Representar las señales mediante bases funcionales adaptadas a su naturaleza e integrarlas en un objeto funcional multivariante, aplicando técnicas de reducción de dimensionalidad para obtener indicadores conjuntos que permitan diferenciar patrones normales y anómalos.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332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83B5B"/>
                </a:solidFill>
                <a:latin typeface="Aptos"/>
              </a:rPr>
              <a:t>Coherencia: particionamiento → representación funcional → análisis multivariante → detección de anomalías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955</Words>
  <Application>Microsoft Office PowerPoint</Application>
  <PresentationFormat>Panorámica</PresentationFormat>
  <Paragraphs>124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Vinicio Yupangui Segovia</cp:lastModifiedBy>
  <cp:revision>2</cp:revision>
  <dcterms:created xsi:type="dcterms:W3CDTF">2013-01-27T09:14:16Z</dcterms:created>
  <dcterms:modified xsi:type="dcterms:W3CDTF">2026-09-24T02:02:09Z</dcterms:modified>
  <cp:category/>
</cp:coreProperties>
</file>